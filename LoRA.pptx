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58" r:id="rId6"/>
    <p:sldId id="257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9" autoAdjust="0"/>
    <p:restoredTop sz="94694"/>
  </p:normalViewPr>
  <p:slideViewPr>
    <p:cSldViewPr snapToGrid="0" showGuides="1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FED7-42F2-90C2-DEF3-5A8D8128D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0C3B9-7AEC-52D7-857A-F941AFE90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9BA3-E39A-E0D6-A215-B082B6CC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3361E-8853-9861-B130-65A477B6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617B7-D27F-E9CE-9FF5-5BAE3248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9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02BD-73B4-D090-D6FD-7EF6B5A0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FD463-E79C-BA4C-100F-D18DED4A7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A7D9B-A82E-506E-263D-D005A390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6FFF5-5FE7-94B9-05CF-5A0C429C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7DE85-EC3D-080C-8D08-D62B8B99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3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8D56-2E3B-BB64-9C9A-FD3B15FE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D0AD5-1722-9B3F-F689-5DB6B6F75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DE187-13A8-F634-5E0E-7E574F71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DEDE6-EFCD-9B32-D64E-4118019A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A1E53-1F6E-19EC-14F6-F164CA3D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4DDE-11C8-CF60-C050-5418D134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81275-B8F8-E86C-5C0F-9FA895A41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F0DA9-F4D8-A64C-C251-0D4D97E88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929DB-558A-23AE-9741-2B54138B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73A30-052B-022A-46F5-B5528491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08D67-9BFF-44A8-ECD8-88ACC244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8AEF3-0A19-79C5-3EA2-7AD941DB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651D6-0607-178A-36B9-8C13BA64A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005CB-F8EE-239B-772D-FE69D0BE1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4F3BF-E037-32F7-2A6B-C32CF8657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09BEA-DAFF-2F66-9EE7-5B84AD14B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94EE5-8A83-4303-D7AE-E870711E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810BE-6F3E-2EAB-A7E9-6CE1F50F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3177F-5CD1-CF26-B6D6-D80E93A1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3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93E6-9653-4BBE-76EF-049FD577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BF640-1ADC-4A32-A1E0-82089DCA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3A5E7-913E-170D-220C-0258CB78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5B244-F615-C45B-2DF1-786A739E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6365E-E4E4-0AD0-7E6E-10527A49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CD270-74C5-1421-74ED-AFC0E09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6C2AA-F677-CE67-6E33-22CFD93C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4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CD59-3516-9672-91BD-8A56A139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AA54-8DD6-0861-0A66-ABA0A1E4E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16E8C-07A3-4C28-C36F-92BA6AA45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6CFD2-DC71-D6FD-6AA1-F76655FB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E1EA8-000E-43FF-CBFD-227BEB76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A9BCF-A471-9B80-5E84-96E0B868D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6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63B8-4D94-4ABF-480E-54C16116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25579-0131-D584-AD82-777444F56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DAF1C-5D4A-F8F4-EA5D-7DFC74268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2CCE8-BAF8-8E45-A91A-9906135F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55ADB-4BA7-9327-2C34-2B3C0761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6EE9E-68CA-7245-71AB-7D784C18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834F-1849-36B5-02A5-AA9CB004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1D625-47F4-CAB8-1C19-F6EF6C94C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501D-0BB7-46DD-CB53-EB285E37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37D19-B216-DD59-3EFF-DB218DB72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1F3FB-16BB-0199-ACA3-42C30761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EE54F-8F9E-483A-998E-0240EAA7F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B87DF-B49B-FAB8-B4C2-7A7B0EEF5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779F8-8F4D-7472-3888-1CE5F860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BF857-7373-87DA-37C9-460669FE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6298-2290-3B27-A801-5960CEF2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1A41B5-E1E2-3628-5D01-C3CD72D1D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353DD-E1A9-248C-FF9D-991182387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91601-4894-0F59-F71C-99554700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E9A0-FF80-4B4A-823D-F00DAEA4A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30470-66A4-7678-7C2D-D6852A538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5EF4-BCD6-C070-40C2-BE342BAD9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FB3F7-A3EB-4EA4-9B3D-ABBE3496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5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28/sms+spam+collec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bastianraschka.com/blog/2023/llm-finetuning-lora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6801-67D0-7A90-FA56-A3588D33A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Fine Tuning SPAM classification with </a:t>
            </a:r>
            <a:r>
              <a:rPr lang="en-US" dirty="0" err="1"/>
              <a:t>LoRA</a:t>
            </a:r>
            <a:r>
              <a:rPr lang="en-US" dirty="0"/>
              <a:t> (Deep Dive)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CF0FD-B7E3-767A-BCE6-9E14013F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9752"/>
            <a:ext cx="9144000" cy="938048"/>
          </a:xfrm>
        </p:spPr>
        <p:txBody>
          <a:bodyPr/>
          <a:lstStyle/>
          <a:p>
            <a:r>
              <a:rPr lang="en-US" dirty="0"/>
              <a:t> - Ashwani Kumar, Alex </a:t>
            </a:r>
            <a:r>
              <a:rPr lang="en-US" dirty="0" err="1"/>
              <a:t>Ntafos</a:t>
            </a:r>
            <a:r>
              <a:rPr lang="en-US" dirty="0"/>
              <a:t>, Nikhil Hegde, Paul Mason</a:t>
            </a:r>
          </a:p>
        </p:txBody>
      </p:sp>
    </p:spTree>
    <p:extLst>
      <p:ext uri="{BB962C8B-B14F-4D97-AF65-F5344CB8AC3E}">
        <p14:creationId xmlns:p14="http://schemas.microsoft.com/office/powerpoint/2010/main" val="243233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E89B-ECB9-8718-DABD-E495811B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3372-3CE0-1D63-0104-6DBCFF2E4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490"/>
            <a:ext cx="10515600" cy="46634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Goal </a:t>
            </a:r>
          </a:p>
          <a:p>
            <a:pPr lvl="1"/>
            <a:r>
              <a:rPr lang="en-US" dirty="0"/>
              <a:t>Fine tune a pre-trained transformer model using </a:t>
            </a:r>
            <a:r>
              <a:rPr lang="en-US" dirty="0" err="1"/>
              <a:t>LoRA</a:t>
            </a:r>
            <a:r>
              <a:rPr lang="en-US" dirty="0"/>
              <a:t>(Low Rank Adaptation) for spam detection on email/text data.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Why ? </a:t>
            </a:r>
          </a:p>
          <a:p>
            <a:pPr lvl="1"/>
            <a:r>
              <a:rPr lang="en-US" dirty="0"/>
              <a:t>It is a well-defined binary classification task.</a:t>
            </a:r>
          </a:p>
          <a:p>
            <a:pPr lvl="1"/>
            <a:r>
              <a:rPr lang="en-US" dirty="0"/>
              <a:t>Useful real-world application with clear evaluation metrics (accuracy, precision, recall) 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we are exploring?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How </a:t>
            </a:r>
            <a:r>
              <a:rPr lang="en-US" sz="2400" dirty="0" err="1"/>
              <a:t>LoRA</a:t>
            </a:r>
            <a:r>
              <a:rPr lang="en-US" sz="2400" dirty="0"/>
              <a:t> compares to full fine-tuning in terms of :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Training efficiency</a:t>
            </a:r>
          </a:p>
          <a:p>
            <a:pPr lvl="1"/>
            <a:r>
              <a:rPr lang="en-US" dirty="0"/>
              <a:t>Memory footprint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13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D253-9D32-D4BD-FA1D-6C65255D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Parameter efficient finetuning approaches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A04FAF-C108-159C-3969-A054A1FA6CBF}"/>
              </a:ext>
            </a:extLst>
          </p:cNvPr>
          <p:cNvSpPr/>
          <p:nvPr/>
        </p:nvSpPr>
        <p:spPr>
          <a:xfrm>
            <a:off x="569039" y="2027905"/>
            <a:ext cx="2015613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46F7BE-C4C6-57CD-E762-178E66C069D4}"/>
              </a:ext>
            </a:extLst>
          </p:cNvPr>
          <p:cNvSpPr/>
          <p:nvPr/>
        </p:nvSpPr>
        <p:spPr>
          <a:xfrm>
            <a:off x="791495" y="3239727"/>
            <a:ext cx="1570703" cy="781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Pretrained transformer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2B892-47B5-78A5-ABB4-9A8811C02B61}"/>
              </a:ext>
            </a:extLst>
          </p:cNvPr>
          <p:cNvSpPr/>
          <p:nvPr/>
        </p:nvSpPr>
        <p:spPr>
          <a:xfrm>
            <a:off x="791495" y="4488423"/>
            <a:ext cx="1612491" cy="176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9FB741-C73A-DE95-F50B-B97D65651886}"/>
              </a:ext>
            </a:extLst>
          </p:cNvPr>
          <p:cNvSpPr/>
          <p:nvPr/>
        </p:nvSpPr>
        <p:spPr>
          <a:xfrm flipV="1">
            <a:off x="1001658" y="4857135"/>
            <a:ext cx="1210600" cy="176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17A071-FB67-4DF3-6703-586A3361C258}"/>
              </a:ext>
            </a:extLst>
          </p:cNvPr>
          <p:cNvSpPr/>
          <p:nvPr/>
        </p:nvSpPr>
        <p:spPr>
          <a:xfrm>
            <a:off x="3593689" y="2022989"/>
            <a:ext cx="2015613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3A730A-E0F9-4786-24B5-FB636603B4B4}"/>
              </a:ext>
            </a:extLst>
          </p:cNvPr>
          <p:cNvSpPr/>
          <p:nvPr/>
        </p:nvSpPr>
        <p:spPr>
          <a:xfrm>
            <a:off x="3816145" y="3249561"/>
            <a:ext cx="1570703" cy="781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Pretrained transformer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D9AD6-B829-2547-946C-B86FDA38B2B9}"/>
              </a:ext>
            </a:extLst>
          </p:cNvPr>
          <p:cNvSpPr/>
          <p:nvPr/>
        </p:nvSpPr>
        <p:spPr>
          <a:xfrm>
            <a:off x="3888655" y="4488422"/>
            <a:ext cx="1612491" cy="176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CD3DD-7419-9BF0-7B3F-3C63E3B22875}"/>
              </a:ext>
            </a:extLst>
          </p:cNvPr>
          <p:cNvSpPr/>
          <p:nvPr/>
        </p:nvSpPr>
        <p:spPr>
          <a:xfrm>
            <a:off x="4119712" y="4847302"/>
            <a:ext cx="1210600" cy="176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4BA966-DD58-2EEA-9F9E-7BF744E4B56E}"/>
              </a:ext>
            </a:extLst>
          </p:cNvPr>
          <p:cNvCxnSpPr/>
          <p:nvPr/>
        </p:nvCxnSpPr>
        <p:spPr>
          <a:xfrm>
            <a:off x="1543665" y="2812026"/>
            <a:ext cx="0" cy="3441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1F8B8D-33CF-A812-91D1-BC07ABB666D7}"/>
              </a:ext>
            </a:extLst>
          </p:cNvPr>
          <p:cNvCxnSpPr/>
          <p:nvPr/>
        </p:nvCxnSpPr>
        <p:spPr>
          <a:xfrm>
            <a:off x="1543665" y="4031227"/>
            <a:ext cx="0" cy="3441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424EA0-D6A5-23A0-2EFA-2C8BD9ED580E}"/>
              </a:ext>
            </a:extLst>
          </p:cNvPr>
          <p:cNvCxnSpPr/>
          <p:nvPr/>
        </p:nvCxnSpPr>
        <p:spPr>
          <a:xfrm>
            <a:off x="4576917" y="2812026"/>
            <a:ext cx="0" cy="3441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8CDDF4-49E8-7A0D-40D9-275F620FC31F}"/>
              </a:ext>
            </a:extLst>
          </p:cNvPr>
          <p:cNvCxnSpPr/>
          <p:nvPr/>
        </p:nvCxnSpPr>
        <p:spPr>
          <a:xfrm>
            <a:off x="4576917" y="4031227"/>
            <a:ext cx="0" cy="3441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20C55AE-9E24-8A35-1A54-3F5FD8745A36}"/>
              </a:ext>
            </a:extLst>
          </p:cNvPr>
          <p:cNvSpPr txBox="1"/>
          <p:nvPr/>
        </p:nvSpPr>
        <p:spPr>
          <a:xfrm>
            <a:off x="-1471155" y="53800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FineTuning</a:t>
            </a:r>
            <a:r>
              <a:rPr lang="en-US" dirty="0"/>
              <a:t> A1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664C1-BC9D-1436-5E42-75D1E0AD6299}"/>
              </a:ext>
            </a:extLst>
          </p:cNvPr>
          <p:cNvSpPr txBox="1"/>
          <p:nvPr/>
        </p:nvSpPr>
        <p:spPr>
          <a:xfrm>
            <a:off x="1278191" y="5330292"/>
            <a:ext cx="6833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FineTuning</a:t>
            </a:r>
            <a:r>
              <a:rPr lang="en-US" dirty="0"/>
              <a:t> A2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317A3A5-4D5E-DA83-D83A-34BB969C3AF1}"/>
              </a:ext>
            </a:extLst>
          </p:cNvPr>
          <p:cNvSpPr/>
          <p:nvPr/>
        </p:nvSpPr>
        <p:spPr>
          <a:xfrm>
            <a:off x="2584652" y="2900516"/>
            <a:ext cx="296186" cy="11540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943318CE-79AD-55FB-8AB9-E2729B89E588}"/>
              </a:ext>
            </a:extLst>
          </p:cNvPr>
          <p:cNvSpPr/>
          <p:nvPr/>
        </p:nvSpPr>
        <p:spPr>
          <a:xfrm>
            <a:off x="2584652" y="4375356"/>
            <a:ext cx="296182" cy="6489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E6ECBA-701B-5E68-6897-5D9C704AB64E}"/>
              </a:ext>
            </a:extLst>
          </p:cNvPr>
          <p:cNvSpPr txBox="1"/>
          <p:nvPr/>
        </p:nvSpPr>
        <p:spPr>
          <a:xfrm>
            <a:off x="2307554" y="3356492"/>
            <a:ext cx="1343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frozen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ABB968-385F-F36E-6C33-369229A84A95}"/>
              </a:ext>
            </a:extLst>
          </p:cNvPr>
          <p:cNvSpPr txBox="1"/>
          <p:nvPr/>
        </p:nvSpPr>
        <p:spPr>
          <a:xfrm>
            <a:off x="2761268" y="437535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62DAC8-154A-AC65-5BB2-D59945AA517D}"/>
              </a:ext>
            </a:extLst>
          </p:cNvPr>
          <p:cNvSpPr txBox="1"/>
          <p:nvPr/>
        </p:nvSpPr>
        <p:spPr>
          <a:xfrm>
            <a:off x="6076432" y="3055061"/>
            <a:ext cx="184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all layers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B0CC3697-C216-3AD0-8DF0-554C58A1E9B5}"/>
              </a:ext>
            </a:extLst>
          </p:cNvPr>
          <p:cNvSpPr/>
          <p:nvPr/>
        </p:nvSpPr>
        <p:spPr>
          <a:xfrm>
            <a:off x="5736506" y="2221464"/>
            <a:ext cx="679853" cy="2783155"/>
          </a:xfrm>
          <a:prstGeom prst="rightBrace">
            <a:avLst>
              <a:gd name="adj1" fmla="val 8333"/>
              <a:gd name="adj2" fmla="val 4771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26F31E1-81F6-13AB-FD2B-CB4B59F72BB0}"/>
              </a:ext>
            </a:extLst>
          </p:cNvPr>
          <p:cNvSpPr/>
          <p:nvPr/>
        </p:nvSpPr>
        <p:spPr>
          <a:xfrm>
            <a:off x="7531510" y="1612490"/>
            <a:ext cx="1847044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modifications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125CF17-7ACB-6546-C678-880A82094C4A}"/>
              </a:ext>
            </a:extLst>
          </p:cNvPr>
          <p:cNvSpPr/>
          <p:nvPr/>
        </p:nvSpPr>
        <p:spPr>
          <a:xfrm>
            <a:off x="7610875" y="3778936"/>
            <a:ext cx="1847044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Adapter methods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EED15F-C1B2-A899-F174-B2DFE5FACCD9}"/>
              </a:ext>
            </a:extLst>
          </p:cNvPr>
          <p:cNvCxnSpPr>
            <a:cxnSpLocks/>
          </p:cNvCxnSpPr>
          <p:nvPr/>
        </p:nvCxnSpPr>
        <p:spPr>
          <a:xfrm flipV="1">
            <a:off x="9054797" y="1767508"/>
            <a:ext cx="915113" cy="188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0C8D29C-7D5D-9848-BD81-AEFFF53DEBD0}"/>
              </a:ext>
            </a:extLst>
          </p:cNvPr>
          <p:cNvSpPr txBox="1"/>
          <p:nvPr/>
        </p:nvSpPr>
        <p:spPr>
          <a:xfrm>
            <a:off x="9969910" y="1455174"/>
            <a:ext cx="212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 prompt tuning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E229FA-788D-3CC1-2243-D613E2A9D721}"/>
              </a:ext>
            </a:extLst>
          </p:cNvPr>
          <p:cNvSpPr txBox="1"/>
          <p:nvPr/>
        </p:nvSpPr>
        <p:spPr>
          <a:xfrm>
            <a:off x="9969910" y="1994859"/>
            <a:ext cx="2035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 prompt tuning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5EB681-3AC3-424D-7E45-7ACC6C2BB2D1}"/>
              </a:ext>
            </a:extLst>
          </p:cNvPr>
          <p:cNvSpPr txBox="1"/>
          <p:nvPr/>
        </p:nvSpPr>
        <p:spPr>
          <a:xfrm>
            <a:off x="9969910" y="2644254"/>
            <a:ext cx="140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 tuning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7DEAE16-E499-3988-59BE-5A334BCA95E2}"/>
              </a:ext>
            </a:extLst>
          </p:cNvPr>
          <p:cNvCxnSpPr/>
          <p:nvPr/>
        </p:nvCxnSpPr>
        <p:spPr>
          <a:xfrm>
            <a:off x="9457919" y="2179525"/>
            <a:ext cx="423500" cy="41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051AF6-2B78-DDE7-B344-A65FB6263E3C}"/>
              </a:ext>
            </a:extLst>
          </p:cNvPr>
          <p:cNvCxnSpPr/>
          <p:nvPr/>
        </p:nvCxnSpPr>
        <p:spPr>
          <a:xfrm>
            <a:off x="9457919" y="2340077"/>
            <a:ext cx="423500" cy="304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30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5DE8-6E97-71BE-3D0E-1D773739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CD321-C771-CE20-1AD7-8D2224EA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</a:t>
            </a:r>
            <a:r>
              <a:rPr lang="en-US" dirty="0" err="1"/>
              <a:t>LoRA</a:t>
            </a:r>
            <a:r>
              <a:rPr lang="en-US" dirty="0"/>
              <a:t> to evaluate the accuracy of classification model on SMS Spam Collection dataset </a:t>
            </a:r>
            <a:r>
              <a:rPr lang="en-US" b="1" dirty="0"/>
              <a:t>(</a:t>
            </a:r>
            <a:r>
              <a:rPr lang="en-US" dirty="0">
                <a:hlinkClick r:id="rId2"/>
              </a:rPr>
              <a:t>SMS Spam Collection - UCI Machine Learning Repository</a:t>
            </a:r>
            <a:r>
              <a:rPr lang="en-US" dirty="0"/>
              <a:t>)</a:t>
            </a:r>
          </a:p>
          <a:p>
            <a:r>
              <a:rPr lang="en-US" dirty="0"/>
              <a:t>Compare </a:t>
            </a:r>
            <a:r>
              <a:rPr lang="en-US" dirty="0" err="1"/>
              <a:t>LoRA</a:t>
            </a:r>
            <a:r>
              <a:rPr lang="en-US" dirty="0"/>
              <a:t> with traditional fine-tuning methods.</a:t>
            </a:r>
          </a:p>
          <a:p>
            <a:r>
              <a:rPr lang="en-US" dirty="0"/>
              <a:t>Investigate optimal rank (r) for </a:t>
            </a:r>
            <a:r>
              <a:rPr lang="en-US" dirty="0" err="1"/>
              <a:t>LoRA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7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E0C7-72E2-CA4B-DE18-7D511B9A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LOW-RANK ADAPTATION OF LARGE LAN GUAGE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9375ED-265A-095F-65E6-4BC14B8F1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04658"/>
            <a:ext cx="6545578" cy="2714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AB382-3FF4-1339-0F88-C7E68274569D}"/>
              </a:ext>
            </a:extLst>
          </p:cNvPr>
          <p:cNvSpPr txBox="1"/>
          <p:nvPr/>
        </p:nvSpPr>
        <p:spPr>
          <a:xfrm>
            <a:off x="7061200" y="2590535"/>
            <a:ext cx="4521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LoRA</a:t>
            </a:r>
            <a:r>
              <a:rPr lang="en-US" sz="2000" dirty="0"/>
              <a:t> is a parameter –efficient fine-tuning technique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Adds a small trainable update matrices A and B (A = r *k’ B=d*r)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7F179-9FBF-C089-E1AE-8AE76E07E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30" y="4021698"/>
            <a:ext cx="2991267" cy="400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496F65-2F58-2052-BE23-1AB8B63F9E39}"/>
              </a:ext>
            </a:extLst>
          </p:cNvPr>
          <p:cNvSpPr txBox="1"/>
          <p:nvPr/>
        </p:nvSpPr>
        <p:spPr>
          <a:xfrm>
            <a:off x="5810863" y="5652914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hlinkClick r:id="rId4"/>
              </a:rPr>
              <a:t>Source: Parameter-Efficient LLM Finetuning With Low-Rank Adaptation (</a:t>
            </a:r>
            <a:r>
              <a:rPr lang="en-US" sz="1000" i="1" dirty="0" err="1">
                <a:hlinkClick r:id="rId4"/>
              </a:rPr>
              <a:t>LoRA</a:t>
            </a:r>
            <a:r>
              <a:rPr lang="en-US" sz="1000" i="1" dirty="0">
                <a:hlinkClick r:id="rId4"/>
              </a:rPr>
              <a:t>)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74404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005852-23E1-5C96-DDC2-43AB6962E9F8}"/>
              </a:ext>
            </a:extLst>
          </p:cNvPr>
          <p:cNvSpPr/>
          <p:nvPr/>
        </p:nvSpPr>
        <p:spPr>
          <a:xfrm>
            <a:off x="968319" y="1350559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Download 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2F78F5-51C4-835C-4242-9D2BB50AF413}"/>
              </a:ext>
            </a:extLst>
          </p:cNvPr>
          <p:cNvSpPr/>
          <p:nvPr/>
        </p:nvSpPr>
        <p:spPr>
          <a:xfrm>
            <a:off x="969837" y="2523130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Preprocess dataset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4B709D-B855-C037-C9C6-FFA00F393B71}"/>
              </a:ext>
            </a:extLst>
          </p:cNvPr>
          <p:cNvSpPr/>
          <p:nvPr/>
        </p:nvSpPr>
        <p:spPr>
          <a:xfrm>
            <a:off x="1003109" y="3704231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data loaders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73482C-9ACB-4762-274C-EC4F62529F02}"/>
              </a:ext>
            </a:extLst>
          </p:cNvPr>
          <p:cNvSpPr/>
          <p:nvPr/>
        </p:nvSpPr>
        <p:spPr>
          <a:xfrm>
            <a:off x="6796292" y="3910238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 model on new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5518DE-C675-C238-D65B-C17E0F0F1C28}"/>
              </a:ext>
            </a:extLst>
          </p:cNvPr>
          <p:cNvSpPr/>
          <p:nvPr/>
        </p:nvSpPr>
        <p:spPr>
          <a:xfrm>
            <a:off x="6807008" y="2549538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Evaluate fine tuned 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331231-AF6D-6763-3BF2-C6965ABA0C67}"/>
              </a:ext>
            </a:extLst>
          </p:cNvPr>
          <p:cNvSpPr/>
          <p:nvPr/>
        </p:nvSpPr>
        <p:spPr>
          <a:xfrm>
            <a:off x="6807008" y="1245738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Fine-tune with </a:t>
            </a:r>
            <a:r>
              <a:rPr lang="en-US" dirty="0" err="1"/>
              <a:t>LoRA</a:t>
            </a:r>
            <a:r>
              <a:rPr lang="en-US" dirty="0"/>
              <a:t>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07DF18-4253-A6DB-6875-BE8359806DC0}"/>
              </a:ext>
            </a:extLst>
          </p:cNvPr>
          <p:cNvSpPr/>
          <p:nvPr/>
        </p:nvSpPr>
        <p:spPr>
          <a:xfrm>
            <a:off x="3903538" y="4103428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Evaluation metrices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059503-F985-9385-C5BF-39D0B2354CF8}"/>
              </a:ext>
            </a:extLst>
          </p:cNvPr>
          <p:cNvSpPr/>
          <p:nvPr/>
        </p:nvSpPr>
        <p:spPr>
          <a:xfrm>
            <a:off x="3905057" y="2859965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Inject </a:t>
            </a:r>
            <a:r>
              <a:rPr lang="en-US" dirty="0" err="1"/>
              <a:t>LoRA</a:t>
            </a:r>
            <a:r>
              <a:rPr lang="en-US" dirty="0"/>
              <a:t> </a:t>
            </a:r>
            <a:r>
              <a:rPr lang="en-US" dirty="0" err="1"/>
              <a:t>adaptures</a:t>
            </a:r>
            <a:r>
              <a:rPr lang="en-US" dirty="0"/>
              <a:t> for for fine-tuning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417CE4-0416-212A-29D7-E8C54EA4AD7B}"/>
              </a:ext>
            </a:extLst>
          </p:cNvPr>
          <p:cNvSpPr/>
          <p:nvPr/>
        </p:nvSpPr>
        <p:spPr>
          <a:xfrm>
            <a:off x="3905058" y="1616502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 pretrained weights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9B8A84-9737-7D1F-C79F-D14800D8B22C}"/>
              </a:ext>
            </a:extLst>
          </p:cNvPr>
          <p:cNvSpPr/>
          <p:nvPr/>
        </p:nvSpPr>
        <p:spPr>
          <a:xfrm>
            <a:off x="3905060" y="373039"/>
            <a:ext cx="1699147" cy="7983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initialization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98DD9-F6AB-CB52-AAA1-2726F8E8C37E}"/>
              </a:ext>
            </a:extLst>
          </p:cNvPr>
          <p:cNvSpPr/>
          <p:nvPr/>
        </p:nvSpPr>
        <p:spPr>
          <a:xfrm>
            <a:off x="1047750" y="5543550"/>
            <a:ext cx="1654506" cy="615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C4FC39-6065-2D17-FD24-5374A69C24D0}"/>
              </a:ext>
            </a:extLst>
          </p:cNvPr>
          <p:cNvSpPr/>
          <p:nvPr/>
        </p:nvSpPr>
        <p:spPr>
          <a:xfrm>
            <a:off x="3925858" y="5594350"/>
            <a:ext cx="1654506" cy="615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setup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85977-77BE-248A-66A4-C7DE4870F34D}"/>
              </a:ext>
            </a:extLst>
          </p:cNvPr>
          <p:cNvSpPr/>
          <p:nvPr/>
        </p:nvSpPr>
        <p:spPr>
          <a:xfrm>
            <a:off x="7016750" y="5594350"/>
            <a:ext cx="1654506" cy="615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fine tuning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9F5C3F-E41B-1985-8389-E979F96BFFF4}"/>
              </a:ext>
            </a:extLst>
          </p:cNvPr>
          <p:cNvSpPr txBox="1"/>
          <p:nvPr/>
        </p:nvSpPr>
        <p:spPr>
          <a:xfrm>
            <a:off x="9465221" y="2585536"/>
            <a:ext cx="2390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Stages in parameter efficient fine-tuning of a spam classification model using </a:t>
            </a:r>
            <a:r>
              <a:rPr lang="en-US" dirty="0" err="1"/>
              <a:t>LoRA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CC61B8-22F2-312D-0331-31CA23B15F98}"/>
              </a:ext>
            </a:extLst>
          </p:cNvPr>
          <p:cNvSpPr/>
          <p:nvPr/>
        </p:nvSpPr>
        <p:spPr>
          <a:xfrm>
            <a:off x="536028" y="704193"/>
            <a:ext cx="2554013" cy="457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D1A3BA-45F4-014E-2EA5-4AF2D6466755}"/>
              </a:ext>
            </a:extLst>
          </p:cNvPr>
          <p:cNvSpPr/>
          <p:nvPr/>
        </p:nvSpPr>
        <p:spPr>
          <a:xfrm>
            <a:off x="3461092" y="152689"/>
            <a:ext cx="2619896" cy="51126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BFEC28-3328-F7CA-97C6-E3EB8B3C69FB}"/>
              </a:ext>
            </a:extLst>
          </p:cNvPr>
          <p:cNvSpPr/>
          <p:nvPr/>
        </p:nvSpPr>
        <p:spPr>
          <a:xfrm>
            <a:off x="6452039" y="698938"/>
            <a:ext cx="2554013" cy="457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881698-EEA8-F987-5E78-762C970EDE8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817893" y="2148953"/>
            <a:ext cx="1518" cy="374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758CDA-8202-CFAD-BCCF-61986144A1E4}"/>
              </a:ext>
            </a:extLst>
          </p:cNvPr>
          <p:cNvCxnSpPr/>
          <p:nvPr/>
        </p:nvCxnSpPr>
        <p:spPr>
          <a:xfrm>
            <a:off x="1777816" y="3321524"/>
            <a:ext cx="1518" cy="374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788B43-A352-ECF7-6A22-55388A2BFD40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 flipH="1">
            <a:off x="4754632" y="1171433"/>
            <a:ext cx="2" cy="44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E019C5-7455-516D-82B2-C1F98C8AD731}"/>
              </a:ext>
            </a:extLst>
          </p:cNvPr>
          <p:cNvCxnSpPr>
            <a:cxnSpLocks/>
          </p:cNvCxnSpPr>
          <p:nvPr/>
        </p:nvCxnSpPr>
        <p:spPr>
          <a:xfrm flipH="1">
            <a:off x="4753111" y="2403140"/>
            <a:ext cx="2" cy="44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0AF742-0F2E-8530-21FF-742B82381EAE}"/>
              </a:ext>
            </a:extLst>
          </p:cNvPr>
          <p:cNvCxnSpPr>
            <a:cxnSpLocks/>
          </p:cNvCxnSpPr>
          <p:nvPr/>
        </p:nvCxnSpPr>
        <p:spPr>
          <a:xfrm flipH="1">
            <a:off x="4753111" y="3666382"/>
            <a:ext cx="2" cy="44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C784CD1-0F70-8027-FF45-66D014CB1389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656582" y="2044132"/>
            <a:ext cx="0" cy="505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A2B349-9597-BED9-0E01-FD010C46B799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645866" y="3347932"/>
            <a:ext cx="0" cy="562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D93C34-F711-894B-9E4B-5E37DBF48C13}"/>
              </a:ext>
            </a:extLst>
          </p:cNvPr>
          <p:cNvSpPr txBox="1"/>
          <p:nvPr/>
        </p:nvSpPr>
        <p:spPr>
          <a:xfrm>
            <a:off x="9547123" y="698938"/>
            <a:ext cx="2554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Architecture Design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BFEF00D-53C0-B840-72BE-9D5D9FB61CB1}"/>
              </a:ext>
            </a:extLst>
          </p:cNvPr>
          <p:cNvCxnSpPr>
            <a:stCxn id="6" idx="3"/>
          </p:cNvCxnSpPr>
          <p:nvPr/>
        </p:nvCxnSpPr>
        <p:spPr>
          <a:xfrm flipV="1">
            <a:off x="2702256" y="772236"/>
            <a:ext cx="965176" cy="3331192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1934430-3B6C-658D-5E05-9BB656FC47AA}"/>
              </a:ext>
            </a:extLst>
          </p:cNvPr>
          <p:cNvCxnSpPr>
            <a:endCxn id="13" idx="1"/>
          </p:cNvCxnSpPr>
          <p:nvPr/>
        </p:nvCxnSpPr>
        <p:spPr>
          <a:xfrm>
            <a:off x="3677265" y="772236"/>
            <a:ext cx="2277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1DFAB5C-76A9-1879-4DED-3A7A1D7DE35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602685" y="1465006"/>
            <a:ext cx="985112" cy="3037619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80852BB-8C90-C375-40C8-D2002DED69AB}"/>
              </a:ext>
            </a:extLst>
          </p:cNvPr>
          <p:cNvCxnSpPr/>
          <p:nvPr/>
        </p:nvCxnSpPr>
        <p:spPr>
          <a:xfrm>
            <a:off x="6597445" y="1474839"/>
            <a:ext cx="19884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31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1575-33CC-0910-2060-292CC12E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template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AEE57B-22F7-B82B-BF8B-E8C64A64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8" y="1407286"/>
            <a:ext cx="2293819" cy="4633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55C38E-6D92-1258-34CF-7C2B48FEEE36}"/>
              </a:ext>
            </a:extLst>
          </p:cNvPr>
          <p:cNvSpPr txBox="1"/>
          <p:nvPr/>
        </p:nvSpPr>
        <p:spPr>
          <a:xfrm>
            <a:off x="2788588" y="2152805"/>
            <a:ext cx="37800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Functions:</a:t>
            </a:r>
          </a:p>
          <a:p>
            <a:r>
              <a:rPr lang="en-US" sz="1600" dirty="0" err="1"/>
              <a:t>download_data</a:t>
            </a:r>
            <a:endParaRPr lang="en-US" sz="1600" dirty="0"/>
          </a:p>
          <a:p>
            <a:r>
              <a:rPr lang="en-US" sz="1600" dirty="0" err="1"/>
              <a:t>create_balanced_dataset</a:t>
            </a:r>
            <a:endParaRPr lang="en-US" sz="1600" dirty="0"/>
          </a:p>
          <a:p>
            <a:r>
              <a:rPr lang="en-US" sz="1600" dirty="0" err="1"/>
              <a:t>randomly_split_dataset</a:t>
            </a:r>
            <a:endParaRPr lang="en-US" sz="1600" dirty="0"/>
          </a:p>
          <a:p>
            <a:r>
              <a:rPr lang="en-US" sz="1600" dirty="0" err="1"/>
              <a:t>makespamDataset</a:t>
            </a:r>
            <a:endParaRPr lang="en-US" sz="1600" dirty="0"/>
          </a:p>
          <a:p>
            <a:r>
              <a:rPr lang="en-US" sz="1600" dirty="0" err="1"/>
              <a:t>DataLoader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C47B86-C06A-B8DB-A173-9501223C2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22" y="1407286"/>
            <a:ext cx="2408129" cy="48467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8F55D2-ECA2-7EEB-DA1F-369DDCF01200}"/>
              </a:ext>
            </a:extLst>
          </p:cNvPr>
          <p:cNvSpPr txBox="1"/>
          <p:nvPr/>
        </p:nvSpPr>
        <p:spPr>
          <a:xfrm>
            <a:off x="7763878" y="1690688"/>
            <a:ext cx="42904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download_and_load_gpt2</a:t>
            </a:r>
          </a:p>
          <a:p>
            <a:r>
              <a:rPr lang="en-US" sz="1200" dirty="0" err="1"/>
              <a:t>load_weights_into_gpt</a:t>
            </a:r>
            <a:endParaRPr lang="en-US" sz="1200" dirty="0"/>
          </a:p>
          <a:p>
            <a:r>
              <a:rPr lang="en-US" sz="1200" dirty="0" err="1"/>
              <a:t>generate_text_simple</a:t>
            </a:r>
            <a:endParaRPr lang="en-US" sz="1200" dirty="0"/>
          </a:p>
          <a:p>
            <a:r>
              <a:rPr lang="en-US" sz="1200" dirty="0" err="1"/>
              <a:t>text_to_token_ids</a:t>
            </a:r>
            <a:endParaRPr lang="en-US" sz="1200" dirty="0"/>
          </a:p>
          <a:p>
            <a:r>
              <a:rPr lang="en-US" sz="1200" dirty="0" err="1"/>
              <a:t>token_ids_to_text</a:t>
            </a:r>
            <a:endParaRPr lang="en-US" sz="1200" dirty="0"/>
          </a:p>
          <a:p>
            <a:r>
              <a:rPr lang="en-US" sz="1200" dirty="0" err="1"/>
              <a:t>calc_accuracy_loader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79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3B513-EDF5-CCC8-D3A1-6A3DD9077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8" y="755451"/>
            <a:ext cx="2339543" cy="459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29F6BF-A118-1B07-0FE3-90AB00AF0A61}"/>
              </a:ext>
            </a:extLst>
          </p:cNvPr>
          <p:cNvSpPr txBox="1"/>
          <p:nvPr/>
        </p:nvSpPr>
        <p:spPr>
          <a:xfrm>
            <a:off x="2753360" y="1320800"/>
            <a:ext cx="2373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LoRALayer</a:t>
            </a:r>
            <a:endParaRPr lang="en-US" dirty="0"/>
          </a:p>
          <a:p>
            <a:r>
              <a:rPr lang="en-US" dirty="0" err="1"/>
              <a:t>calc_accuracy_loader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840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339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Fine Tuning SPAM classification with LoRA (Deep Dive)</vt:lpstr>
      <vt:lpstr>Overview</vt:lpstr>
      <vt:lpstr>Existing Parameter efficient finetuning approaches</vt:lpstr>
      <vt:lpstr>Problem statement</vt:lpstr>
      <vt:lpstr>LoRA: LOW-RANK ADAPTATION OF LARGE LAN GUAGE MODELS</vt:lpstr>
      <vt:lpstr>PowerPoint Presentation</vt:lpstr>
      <vt:lpstr>Code template</vt:lpstr>
      <vt:lpstr>PowerPoint Presentation</vt:lpstr>
    </vt:vector>
  </TitlesOfParts>
  <Company>UT Southwestern Medical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2025-10-24T19:14:39Z</dcterms:created>
  <dcterms:modified xsi:type="dcterms:W3CDTF">2025-11-12T14:43:10Z</dcterms:modified>
</cp:coreProperties>
</file>